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57" r:id="rId12"/>
    <p:sldId id="258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822960"/>
            <a:ext cx="3474720" cy="3474720"/>
          </a:xfrm>
          <a:prstGeom prst="ellipse">
            <a:avLst/>
          </a:prstGeom>
          <a:solidFill>
            <a:srgbClr val="74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5303520"/>
            <a:ext cx="2468880" cy="2468880"/>
          </a:xfrm>
          <a:prstGeom prst="ellipse">
            <a:avLst/>
          </a:prstGeom>
          <a:solidFill>
            <a:srgbClr val="19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0" y="5486400"/>
            <a:ext cx="3657600" cy="2688590"/>
          </a:xfrm>
          <a:prstGeom prst="ellipse">
            <a:avLst/>
          </a:prstGeom>
          <a:solidFill>
            <a:srgbClr val="2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GB"/>
          </a:p>
          <a:p>
            <a:pPr algn="ctr"/>
            <a:endParaRPr lang="en-US" altLang="en-GB"/>
          </a:p>
        </p:txBody>
      </p:sp>
      <p:sp>
        <p:nvSpPr>
          <p:cNvPr id="5" name="TextBox 4"/>
          <p:cNvSpPr txBox="1"/>
          <p:nvPr/>
        </p:nvSpPr>
        <p:spPr>
          <a:xfrm>
            <a:off x="2067243" y="1508760"/>
            <a:ext cx="8027035" cy="1537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5F7FF"/>
                </a:solidFill>
                <a:latin typeface="Aptos Display"/>
              </a:defRPr>
            </a:pPr>
            <a:r>
              <a:rPr lang="en-US" sz="3600">
                <a:latin typeface="Consolas" panose="020B0609020204030204" charset="0"/>
                <a:cs typeface="Consolas" panose="020B0609020204030204" charset="0"/>
              </a:rPr>
              <a:t>TECHNICAL PRESENTATION</a:t>
            </a:r>
            <a:endParaRPr sz="3600">
              <a:latin typeface="Consolas" panose="020B0609020204030204" charset="0"/>
              <a:cs typeface="Consolas" panose="020B0609020204030204" charset="0"/>
            </a:endParaRPr>
          </a:p>
          <a:p>
            <a:pPr algn="ctr">
              <a:defRPr sz="4000" b="1">
                <a:solidFill>
                  <a:srgbClr val="F5F7FF"/>
                </a:solidFill>
                <a:latin typeface="Aptos Display"/>
              </a:defRPr>
            </a:pPr>
            <a:r>
              <a:t>INTELLIGENT ROBOT VISION</a:t>
            </a:r>
          </a:p>
          <a:p>
            <a:pPr algn="ctr">
              <a:defRPr sz="1800">
                <a:solidFill>
                  <a:srgbClr val="D0D7EB"/>
                </a:solidFill>
                <a:latin typeface="Aptos"/>
              </a:defRPr>
            </a:pPr>
            <a:r>
              <a:t>Computer Vision Techniques for Intelligent Perception and Robotic Interaction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166360"/>
            <a:ext cx="8549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F5F7FF"/>
                </a:solidFill>
                <a:latin typeface="Aptos"/>
              </a:defRPr>
            </a:pPr>
            <a:r>
              <a:t>A complete vision pipeline helps a robot perceive, recognize, locate, track and interact with objects in unknown environments.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9224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0D7E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5" name="Text Box 24"/>
          <p:cNvSpPr txBox="1"/>
          <p:nvPr/>
        </p:nvSpPr>
        <p:spPr>
          <a:xfrm>
            <a:off x="8090535" y="3255010"/>
            <a:ext cx="40640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  <a:latin typeface="+mj-ea"/>
                <a:cs typeface="+mj-ea"/>
              </a:rPr>
              <a:t>K.M.Santhiya(192371030)</a:t>
            </a:r>
            <a:endParaRPr lang="en-US" altLang="en-GB" b="1">
              <a:solidFill>
                <a:schemeClr val="bg1"/>
              </a:solidFill>
              <a:latin typeface="+mj-ea"/>
              <a:cs typeface="+mj-ea"/>
            </a:endParaRPr>
          </a:p>
          <a:p>
            <a:r>
              <a:rPr lang="en-US" altLang="en-GB" b="1">
                <a:solidFill>
                  <a:schemeClr val="bg1"/>
                </a:solidFill>
                <a:latin typeface="+mj-ea"/>
                <a:cs typeface="+mj-ea"/>
              </a:rPr>
              <a:t>M.Shakthi(192312538)</a:t>
            </a:r>
            <a:endParaRPr lang="en-US" altLang="en-GB" b="1">
              <a:solidFill>
                <a:schemeClr val="bg1"/>
              </a:solidFill>
              <a:latin typeface="+mj-ea"/>
              <a:cs typeface="+mj-ea"/>
            </a:endParaRPr>
          </a:p>
          <a:p>
            <a:r>
              <a:rPr lang="en-US" altLang="en-GB" b="1">
                <a:solidFill>
                  <a:schemeClr val="bg1"/>
                </a:solidFill>
                <a:latin typeface="+mj-ea"/>
                <a:cs typeface="+mj-ea"/>
              </a:rPr>
              <a:t>R. Hema priya(1972260018)</a:t>
            </a:r>
            <a:endParaRPr lang="en-US" altLang="en-GB" b="1">
              <a:solidFill>
                <a:schemeClr val="bg1"/>
              </a:solidFill>
              <a:latin typeface="+mj-ea"/>
              <a:cs typeface="+mj-ea"/>
            </a:endParaRPr>
          </a:p>
          <a:p>
            <a:r>
              <a:rPr lang="en-US" altLang="en-GB" b="1">
                <a:solidFill>
                  <a:schemeClr val="bg1"/>
                </a:solidFill>
                <a:latin typeface="+mj-ea"/>
                <a:cs typeface="+mj-ea"/>
              </a:rPr>
              <a:t>M.Nivedha(192471040)</a:t>
            </a:r>
            <a:endParaRPr lang="en-US" altLang="en-GB" b="1">
              <a:solidFill>
                <a:schemeClr val="bg1"/>
              </a:solidFill>
              <a:latin typeface="+mj-ea"/>
              <a:cs typeface="+mj-ea"/>
            </a:endParaRPr>
          </a:p>
          <a:p>
            <a:r>
              <a:rPr lang="en-US" altLang="en-GB" b="1">
                <a:solidFill>
                  <a:schemeClr val="bg1"/>
                </a:solidFill>
                <a:latin typeface="+mj-ea"/>
                <a:cs typeface="+mj-ea"/>
              </a:rPr>
              <a:t>P.Harini(192521402)</a:t>
            </a:r>
            <a:endParaRPr lang="en-US" altLang="en-GB" b="1">
              <a:solidFill>
                <a:schemeClr val="bg1"/>
              </a:solidFill>
              <a:latin typeface="+mj-ea"/>
              <a:cs typeface="+mj-ea"/>
            </a:endParaRPr>
          </a:p>
          <a:p>
            <a:endParaRPr lang="en-US" altLang="en-GB" b="1">
              <a:solidFill>
                <a:schemeClr val="bg1"/>
              </a:solidFill>
              <a:latin typeface="+mj-ea"/>
              <a:cs typeface="+mj-ea"/>
            </a:endParaRPr>
          </a:p>
          <a:p>
            <a:endParaRPr lang="en-US" altLang="en-GB" b="1">
              <a:solidFill>
                <a:schemeClr val="bg1"/>
              </a:solidFill>
              <a:latin typeface="+mj-ea"/>
              <a:cs typeface="+mj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767080" y="3467735"/>
            <a:ext cx="3390900" cy="1276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chemeClr val="bg1"/>
                </a:solidFill>
                <a:latin typeface="+mn-ea"/>
                <a:cs typeface="+mn-ea"/>
              </a:rPr>
              <a:t>Guided by:</a:t>
            </a:r>
            <a:endParaRPr lang="en-US" altLang="en-GB" b="1">
              <a:solidFill>
                <a:schemeClr val="bg1"/>
              </a:solidFill>
              <a:latin typeface="+mn-ea"/>
              <a:cs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latin typeface="+mn-ea"/>
                <a:cs typeface="+mn-ea"/>
              </a:rPr>
              <a:t> Jeni Gracia Ramakrishnan Chellathangam</a:t>
            </a:r>
            <a:endParaRPr lang="en-US" altLang="en-GB" b="1">
              <a:solidFill>
                <a:schemeClr val="bg1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822960"/>
            <a:ext cx="3474720" cy="3474720"/>
          </a:xfrm>
          <a:prstGeom prst="ellipse">
            <a:avLst/>
          </a:prstGeom>
          <a:solidFill>
            <a:srgbClr val="74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5303520"/>
            <a:ext cx="2468880" cy="2468880"/>
          </a:xfrm>
          <a:prstGeom prst="ellipse">
            <a:avLst/>
          </a:prstGeom>
          <a:solidFill>
            <a:srgbClr val="19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0" y="5486400"/>
            <a:ext cx="3657600" cy="1828800"/>
          </a:xfrm>
          <a:prstGeom prst="ellipse">
            <a:avLst/>
          </a:prstGeom>
          <a:solidFill>
            <a:srgbClr val="2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7482840" cy="5372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rPr lang="en-US"/>
              <a:t>A</a:t>
            </a:r>
            <a:r>
              <a:t>. YOLO DETECTION &amp; FEATURE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6012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0D7EB"/>
                </a:solidFill>
                <a:latin typeface="Aptos"/>
              </a:defRPr>
            </a:pPr>
            <a:r>
              <a:t>Intelligent Robot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DEFINITION: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8960" y="1337056"/>
            <a:ext cx="9006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5F7FF"/>
                </a:solidFill>
                <a:latin typeface="Aptos"/>
              </a:defRPr>
            </a:pPr>
            <a:r>
              <a:t>YOLO detects objects rapidly, while feature matching compares visual features to identify or verify specific objects and their locations.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128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WORKING PROCESS: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606040"/>
            <a:ext cx="10972800" cy="2331720"/>
          </a:xfrm>
          <a:prstGeom prst="rect">
            <a:avLst/>
          </a:prstGeom>
          <a:noFill/>
        </p:spPr>
        <p:txBody>
          <a:bodyPr wrap="square" lIns="45720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Image Input – A preprocessed camera frame is supplied to the detector.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YOLO Detection – YOLO predicts object classes and bounding boxes in real time.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Object Identification – Detected regions are classified into known object categories.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Feature Extraction – Local visual features such as edges and keypoints are extracted.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Feature Matching – Features are compared with reference images to recognize specific objects.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84632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KEY TECHNOLOGIES: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4892040"/>
            <a:ext cx="8595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7FF"/>
                </a:solidFill>
                <a:latin typeface="Aptos"/>
              </a:defRPr>
            </a:pPr>
            <a:r>
              <a:t>YOLO • Bounding Boxes • CNN Features • SIFT/ORB • Feature Matching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5436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9172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46603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YOLO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808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2544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9976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Bounding 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2180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5916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3348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2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9288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9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Match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8924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52659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80091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Object 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9224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0D7EB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31" name="Example image slide 4" descr="Example image slid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4355" y="2719626"/>
            <a:ext cx="2113995" cy="21139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-640080"/>
            <a:ext cx="2743200" cy="2743200"/>
          </a:xfrm>
          <a:prstGeom prst="ellipse">
            <a:avLst/>
          </a:prstGeom>
          <a:solidFill>
            <a:srgbClr val="2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572000"/>
            <a:ext cx="3383280" cy="3383280"/>
          </a:xfrm>
          <a:prstGeom prst="ellipse">
            <a:avLst/>
          </a:prstGeom>
          <a:solidFill>
            <a:srgbClr val="74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03520" y="5577840"/>
            <a:ext cx="3200400" cy="1554480"/>
          </a:xfrm>
          <a:prstGeom prst="ellipse">
            <a:avLst/>
          </a:prstGeom>
          <a:solidFill>
            <a:srgbClr val="19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7482840" cy="5372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rPr lang="en-US"/>
              <a:t>A</a:t>
            </a:r>
            <a:r>
              <a:t>. YOLO DETECTION &amp; FEATURE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911223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442" y="2514600"/>
            <a:ext cx="5166360" cy="3063240"/>
          </a:xfrm>
          <a:prstGeom prst="rect">
            <a:avLst/>
          </a:prstGeom>
          <a:noFill/>
        </p:spPr>
        <p:txBody>
          <a:bodyPr wrap="square" lIns="45720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Warehouse object detection and sorting.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Robot identification of tools, packages, and parts.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Inspection and quality-control systems.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Recognition of known objects from reference images.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0850" y="1902333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BENEFITS: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414270"/>
            <a:ext cx="5074920" cy="3063240"/>
          </a:xfrm>
          <a:prstGeom prst="rect">
            <a:avLst/>
          </a:prstGeom>
          <a:noFill/>
        </p:spPr>
        <p:txBody>
          <a:bodyPr wrap="square" lIns="45720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Fast real-time object detection.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Identifies multiple objects in one frame.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Improves object recognition reliability.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Supports accurate object localization for robot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5074920"/>
            <a:ext cx="9326880" cy="868680"/>
          </a:xfrm>
          <a:prstGeom prst="roundRect">
            <a:avLst/>
          </a:prstGeom>
          <a:solidFill>
            <a:srgbClr val="0F1830"/>
          </a:solidFill>
          <a:ln w="12700">
            <a:solidFill>
              <a:srgbClr val="2A4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5193792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F7FF"/>
                </a:solidFill>
                <a:latin typeface="Aptos"/>
              </a:defRPr>
            </a:pPr>
            <a:r>
              <a:t>EXAMPLE: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5175504"/>
            <a:ext cx="7909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5F7FF"/>
                </a:solidFill>
                <a:latin typeface="Aptos"/>
              </a:defRPr>
            </a:pPr>
            <a:r>
              <a:t>Camera → YOLO → Detect Box → Extract Features → Match Reference → Identify Object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9224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0D7EB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14" name="Example image 1 slide 5" descr="Example image 1 slide 5"/>
          <p:cNvPicPr>
            <a:picLocks noChangeAspect="1"/>
          </p:cNvPicPr>
          <p:nvPr/>
        </p:nvPicPr>
        <p:blipFill>
          <a:blip r:embed="rId1"/>
          <a:srcRect t="4348" b="4348"/>
          <a:stretch>
            <a:fillRect/>
          </a:stretch>
        </p:blipFill>
        <p:spPr>
          <a:xfrm>
            <a:off x="1405521" y="4045158"/>
            <a:ext cx="2228265" cy="959868"/>
          </a:xfrm>
          <a:prstGeom prst="rect">
            <a:avLst/>
          </a:prstGeom>
        </p:spPr>
      </p:pic>
      <p:pic>
        <p:nvPicPr>
          <p:cNvPr id="15" name="Example image 2 slide 5" descr="Example image 2 slide 5"/>
          <p:cNvPicPr>
            <a:picLocks noChangeAspect="1"/>
          </p:cNvPicPr>
          <p:nvPr/>
        </p:nvPicPr>
        <p:blipFill>
          <a:blip r:embed="rId2"/>
          <a:srcRect t="4348" b="4348"/>
          <a:stretch>
            <a:fillRect/>
          </a:stretch>
        </p:blipFill>
        <p:spPr>
          <a:xfrm>
            <a:off x="3770910" y="4045158"/>
            <a:ext cx="2228265" cy="959868"/>
          </a:xfrm>
          <a:prstGeom prst="rect">
            <a:avLst/>
          </a:prstGeom>
        </p:spPr>
      </p:pic>
      <p:pic>
        <p:nvPicPr>
          <p:cNvPr id="16" name="Example image 3 slide 5" descr="Example image 3 slide 5"/>
          <p:cNvPicPr>
            <a:picLocks noChangeAspect="1"/>
          </p:cNvPicPr>
          <p:nvPr/>
        </p:nvPicPr>
        <p:blipFill>
          <a:blip r:embed="rId3"/>
          <a:srcRect t="4348" b="4348"/>
          <a:stretch>
            <a:fillRect/>
          </a:stretch>
        </p:blipFill>
        <p:spPr>
          <a:xfrm>
            <a:off x="6136299" y="4045158"/>
            <a:ext cx="2228265" cy="959868"/>
          </a:xfrm>
          <a:prstGeom prst="rect">
            <a:avLst/>
          </a:prstGeom>
        </p:spPr>
      </p:pic>
      <p:pic>
        <p:nvPicPr>
          <p:cNvPr id="17" name="Example image 4 slide 5" descr="Example image 4 slide 5"/>
          <p:cNvPicPr>
            <a:picLocks noChangeAspect="1"/>
          </p:cNvPicPr>
          <p:nvPr/>
        </p:nvPicPr>
        <p:blipFill>
          <a:blip r:embed="rId4"/>
          <a:srcRect t="4348" b="4348"/>
          <a:stretch>
            <a:fillRect/>
          </a:stretch>
        </p:blipFill>
        <p:spPr>
          <a:xfrm>
            <a:off x="8501688" y="4045158"/>
            <a:ext cx="2228265" cy="9598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822960"/>
            <a:ext cx="3474720" cy="3474720"/>
          </a:xfrm>
          <a:prstGeom prst="ellipse">
            <a:avLst/>
          </a:prstGeom>
          <a:solidFill>
            <a:srgbClr val="74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5303520"/>
            <a:ext cx="2468880" cy="2468880"/>
          </a:xfrm>
          <a:prstGeom prst="ellipse">
            <a:avLst/>
          </a:prstGeom>
          <a:solidFill>
            <a:srgbClr val="19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0" y="5486400"/>
            <a:ext cx="3657600" cy="1828800"/>
          </a:xfrm>
          <a:prstGeom prst="ellipse">
            <a:avLst/>
          </a:prstGeom>
          <a:solidFill>
            <a:srgbClr val="2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7994650" cy="5372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rPr lang="en-US"/>
              <a:t>B</a:t>
            </a:r>
            <a:r>
              <a:t>. STEREO VISION &amp; 3D POSITION 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6012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0D7EB"/>
                </a:solidFill>
                <a:latin typeface="Aptos"/>
              </a:defRPr>
            </a:pPr>
            <a:r>
              <a:t>Intelligent Robot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DEFINITION: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7040" y="1326896"/>
            <a:ext cx="9006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5F7FF"/>
                </a:solidFill>
                <a:latin typeface="Aptos"/>
              </a:defRPr>
            </a:pPr>
            <a:r>
              <a:t>Stereo vision uses two camera views and image analysis to estimate object depth and determine its three-dimensional position.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128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WORKING PROCESS: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606040"/>
            <a:ext cx="10972800" cy="2331720"/>
          </a:xfrm>
          <a:prstGeom prst="rect">
            <a:avLst/>
          </a:prstGeom>
          <a:noFill/>
        </p:spPr>
        <p:txBody>
          <a:bodyPr wrap="square" lIns="45720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Stereo Capture – Two cameras capture the same scene from slightly different viewpoints.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Image Rectification – Align the left and right images for accurate comparison.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Correspondence – Find matching points between the two camera images.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Disparity Estimation – Calculate the difference in point positions between views.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Depth &amp; 3D Position – Convert disparity into depth and estimate X, Y, and Z coordinates.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93776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KEY TECHNOLOGIES: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7640" y="5003800"/>
            <a:ext cx="8595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7FF"/>
                </a:solidFill>
                <a:latin typeface="Aptos"/>
              </a:defRPr>
            </a:pPr>
            <a:r>
              <a:t>Stereo Cameras • Rectification • Disparity • Depth Map • 3D Coordinates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Left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5436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9172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46603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Right Image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808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2544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9976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Match 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2180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5916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3348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Disparity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2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9288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9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Depth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8924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52659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80091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3D Position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9224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0D7EB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31" name="Example image slide 6" descr="Example image slid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4355" y="2719626"/>
            <a:ext cx="2113995" cy="21139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-640080"/>
            <a:ext cx="2743200" cy="2743200"/>
          </a:xfrm>
          <a:prstGeom prst="ellipse">
            <a:avLst/>
          </a:prstGeom>
          <a:solidFill>
            <a:srgbClr val="2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572000"/>
            <a:ext cx="3383280" cy="3383280"/>
          </a:xfrm>
          <a:prstGeom prst="ellipse">
            <a:avLst/>
          </a:prstGeom>
          <a:solidFill>
            <a:srgbClr val="74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03520" y="5577840"/>
            <a:ext cx="3200400" cy="1554480"/>
          </a:xfrm>
          <a:prstGeom prst="ellipse">
            <a:avLst/>
          </a:prstGeom>
          <a:solidFill>
            <a:srgbClr val="19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7994650" cy="5372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rPr lang="en-US"/>
              <a:t>B</a:t>
            </a:r>
            <a:r>
              <a:t>. STEREO VISION &amp; 3D POSITION 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8885" y="201345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629535"/>
            <a:ext cx="5166360" cy="3063240"/>
          </a:xfrm>
          <a:prstGeom prst="rect">
            <a:avLst/>
          </a:prstGeom>
          <a:noFill/>
        </p:spPr>
        <p:txBody>
          <a:bodyPr wrap="square" lIns="45720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Robot navigation and obstacle distance estimation.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Precise grasping of objects at different distances.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3D warehouse picking and bin handling.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Industrial inspection and spatial measurement.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1345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BENEFITS: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29535"/>
            <a:ext cx="5074920" cy="3063240"/>
          </a:xfrm>
          <a:prstGeom prst="rect">
            <a:avLst/>
          </a:prstGeom>
          <a:noFill/>
        </p:spPr>
        <p:txBody>
          <a:bodyPr wrap="square" lIns="45720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Provides real-world depth information.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Improves grasping and positioning accuracy.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Enables 3D scene understanding.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Helps robots avoid obstacles and plan safe paths.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5074920"/>
            <a:ext cx="9326880" cy="868680"/>
          </a:xfrm>
          <a:prstGeom prst="roundRect">
            <a:avLst/>
          </a:prstGeom>
          <a:solidFill>
            <a:srgbClr val="0F1830"/>
          </a:solidFill>
          <a:ln w="12700">
            <a:solidFill>
              <a:srgbClr val="2A4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5193792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F7FF"/>
                </a:solidFill>
                <a:latin typeface="Aptos"/>
              </a:defRPr>
            </a:pPr>
            <a:r>
              <a:t>EXAMPLE: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9720" y="5165344"/>
            <a:ext cx="7909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5F7FF"/>
                </a:solidFill>
                <a:latin typeface="Aptos"/>
              </a:defRPr>
            </a:pPr>
            <a:r>
              <a:t>Two Cameras → Correspondence → Disparity → Depth Map → X,Y,Z → Robot 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9224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0D7EB"/>
                </a:solidFill>
                <a:latin typeface="Aptos"/>
              </a:defRPr>
            </a:pPr>
            <a:r>
              <a:t>07</a:t>
            </a:r>
          </a:p>
        </p:txBody>
      </p:sp>
      <p:pic>
        <p:nvPicPr>
          <p:cNvPr id="14" name="Example image 1 slide 7" descr="Example image 1 slide 7"/>
          <p:cNvPicPr>
            <a:picLocks noChangeAspect="1"/>
          </p:cNvPicPr>
          <p:nvPr/>
        </p:nvPicPr>
        <p:blipFill>
          <a:blip r:embed="rId1"/>
          <a:srcRect t="4348" b="4348"/>
          <a:stretch>
            <a:fillRect/>
          </a:stretch>
        </p:blipFill>
        <p:spPr>
          <a:xfrm>
            <a:off x="1405521" y="4045158"/>
            <a:ext cx="2228265" cy="959868"/>
          </a:xfrm>
          <a:prstGeom prst="rect">
            <a:avLst/>
          </a:prstGeom>
        </p:spPr>
      </p:pic>
      <p:pic>
        <p:nvPicPr>
          <p:cNvPr id="15" name="Example image 2 slide 7" descr="Example image 2 slide 7"/>
          <p:cNvPicPr>
            <a:picLocks noChangeAspect="1"/>
          </p:cNvPicPr>
          <p:nvPr/>
        </p:nvPicPr>
        <p:blipFill>
          <a:blip r:embed="rId2"/>
          <a:srcRect t="4348" b="4348"/>
          <a:stretch>
            <a:fillRect/>
          </a:stretch>
        </p:blipFill>
        <p:spPr>
          <a:xfrm>
            <a:off x="3770910" y="4045158"/>
            <a:ext cx="2228265" cy="959868"/>
          </a:xfrm>
          <a:prstGeom prst="rect">
            <a:avLst/>
          </a:prstGeom>
        </p:spPr>
      </p:pic>
      <p:pic>
        <p:nvPicPr>
          <p:cNvPr id="16" name="Example image 3 slide 7" descr="Example image 3 slide 7"/>
          <p:cNvPicPr>
            <a:picLocks noChangeAspect="1"/>
          </p:cNvPicPr>
          <p:nvPr/>
        </p:nvPicPr>
        <p:blipFill>
          <a:blip r:embed="rId3"/>
          <a:srcRect t="4348" b="4348"/>
          <a:stretch>
            <a:fillRect/>
          </a:stretch>
        </p:blipFill>
        <p:spPr>
          <a:xfrm>
            <a:off x="6136299" y="4045158"/>
            <a:ext cx="2228265" cy="959868"/>
          </a:xfrm>
          <a:prstGeom prst="rect">
            <a:avLst/>
          </a:prstGeom>
        </p:spPr>
      </p:pic>
      <p:pic>
        <p:nvPicPr>
          <p:cNvPr id="17" name="Example image 4 slide 7" descr="Example image 4 slide 7"/>
          <p:cNvPicPr>
            <a:picLocks noChangeAspect="1"/>
          </p:cNvPicPr>
          <p:nvPr/>
        </p:nvPicPr>
        <p:blipFill>
          <a:blip r:embed="rId4"/>
          <a:srcRect t="4348" b="4348"/>
          <a:stretch>
            <a:fillRect/>
          </a:stretch>
        </p:blipFill>
        <p:spPr>
          <a:xfrm>
            <a:off x="8501688" y="4045158"/>
            <a:ext cx="2228265" cy="9598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822960"/>
            <a:ext cx="3474720" cy="3474720"/>
          </a:xfrm>
          <a:prstGeom prst="ellipse">
            <a:avLst/>
          </a:prstGeom>
          <a:solidFill>
            <a:srgbClr val="74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5303520"/>
            <a:ext cx="2468880" cy="2468880"/>
          </a:xfrm>
          <a:prstGeom prst="ellipse">
            <a:avLst/>
          </a:prstGeom>
          <a:solidFill>
            <a:srgbClr val="19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0" y="5486400"/>
            <a:ext cx="3657600" cy="1828800"/>
          </a:xfrm>
          <a:prstGeom prst="ellipse">
            <a:avLst/>
          </a:prstGeom>
          <a:solidFill>
            <a:srgbClr val="2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7237730" cy="5372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rPr lang="en-US"/>
              <a:t>C</a:t>
            </a:r>
            <a:r>
              <a:t>. OPTICAL FLOW &amp; MOTION 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6012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0D7EB"/>
                </a:solidFill>
                <a:latin typeface="Aptos"/>
              </a:defRPr>
            </a:pPr>
            <a:r>
              <a:t>Intelligent Robot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DEFINITION: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0700" y="1316101"/>
            <a:ext cx="9006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5F7FF"/>
                </a:solidFill>
                <a:latin typeface="Aptos"/>
              </a:defRPr>
            </a:pPr>
            <a:r>
              <a:t>Optical flow estimates how pixels move between consecutive frames to track moving objects and understand changes in the environment.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128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WORKING PROCESS: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616200"/>
            <a:ext cx="10972800" cy="2331720"/>
          </a:xfrm>
          <a:prstGeom prst="rect">
            <a:avLst/>
          </a:prstGeom>
          <a:noFill/>
        </p:spPr>
        <p:txBody>
          <a:bodyPr wrap="square" lIns="45720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Frame Capture – Obtain consecutive images from a moving or fixed camera.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Motion Detection – Compare image features across frames.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Optical Flow – Estimate the direction and speed of apparent pixel motion.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Object Tracking – Follow the movement of detected objects over time.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Environmental Understanding – Detect motion, direction changes, and dynamic obstacles.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93776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KEY TECHNOLOGIES: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4993640"/>
            <a:ext cx="8595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7FF"/>
                </a:solidFill>
                <a:latin typeface="Aptos"/>
              </a:defRPr>
            </a:pPr>
            <a:r>
              <a:t>Optical Flow • Feature Tracking • Motion Vectors • Frame Analysis • 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Frame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5436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9172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46603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Frame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808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2544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9976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Motion Vectors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2180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5916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3348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Track Object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2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9288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9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Estimate Speed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8924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52659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80091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Update Scene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9224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0D7EB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31" name="Example image slide 8" descr="Example image slid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4355" y="2719626"/>
            <a:ext cx="2113995" cy="21139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-640080"/>
            <a:ext cx="2743200" cy="2743200"/>
          </a:xfrm>
          <a:prstGeom prst="ellipse">
            <a:avLst/>
          </a:prstGeom>
          <a:solidFill>
            <a:srgbClr val="2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572000"/>
            <a:ext cx="3383280" cy="3383280"/>
          </a:xfrm>
          <a:prstGeom prst="ellipse">
            <a:avLst/>
          </a:prstGeom>
          <a:solidFill>
            <a:srgbClr val="74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03520" y="5577840"/>
            <a:ext cx="3200400" cy="1554480"/>
          </a:xfrm>
          <a:prstGeom prst="ellipse">
            <a:avLst/>
          </a:prstGeom>
          <a:solidFill>
            <a:srgbClr val="19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7237730" cy="5372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rPr lang="en-US"/>
              <a:t>C</a:t>
            </a:r>
            <a:r>
              <a:t>. OPTICAL FLOW &amp; MOTION 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2225" y="189280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499360"/>
            <a:ext cx="5166360" cy="3063240"/>
          </a:xfrm>
          <a:prstGeom prst="rect">
            <a:avLst/>
          </a:prstGeom>
          <a:noFill/>
        </p:spPr>
        <p:txBody>
          <a:bodyPr wrap="square" lIns="45720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Tracking people, vehicles, or moving packages.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Dynamic obstacle detection for mobile robots.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Monitoring conveyor-belt and production-line movement.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Robot navigation in changing environments.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187756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BENEFITS: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499360"/>
            <a:ext cx="5074920" cy="3063240"/>
          </a:xfrm>
          <a:prstGeom prst="rect">
            <a:avLst/>
          </a:prstGeom>
          <a:noFill/>
        </p:spPr>
        <p:txBody>
          <a:bodyPr wrap="square" lIns="45720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Tracks moving objects continuously.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Detects environmental changes quickly.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Supports safer robot navigation.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Provides motion direction and speed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5074920"/>
            <a:ext cx="9326880" cy="868680"/>
          </a:xfrm>
          <a:prstGeom prst="roundRect">
            <a:avLst/>
          </a:prstGeom>
          <a:solidFill>
            <a:srgbClr val="0F1830"/>
          </a:solidFill>
          <a:ln w="12700">
            <a:solidFill>
              <a:srgbClr val="2A4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5193792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F7FF"/>
                </a:solidFill>
                <a:latin typeface="Aptos"/>
              </a:defRPr>
            </a:pPr>
            <a:r>
              <a:t>EXAMPLE: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2600" y="5175504"/>
            <a:ext cx="7909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5F7FF"/>
                </a:solidFill>
                <a:latin typeface="Aptos"/>
              </a:defRPr>
            </a:pPr>
            <a:r>
              <a:t>Frame 1 → Frame 2 → Optical Flow → Motion Vector → Object Tracking → Robot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9224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0D7EB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14" name="Example image 1 slide 9" descr="Example image 1 slide 9"/>
          <p:cNvPicPr>
            <a:picLocks noChangeAspect="1"/>
          </p:cNvPicPr>
          <p:nvPr/>
        </p:nvPicPr>
        <p:blipFill>
          <a:blip r:embed="rId1"/>
          <a:srcRect t="4348" b="4348"/>
          <a:stretch>
            <a:fillRect/>
          </a:stretch>
        </p:blipFill>
        <p:spPr>
          <a:xfrm>
            <a:off x="1405521" y="4045158"/>
            <a:ext cx="2228265" cy="959868"/>
          </a:xfrm>
          <a:prstGeom prst="rect">
            <a:avLst/>
          </a:prstGeom>
        </p:spPr>
      </p:pic>
      <p:pic>
        <p:nvPicPr>
          <p:cNvPr id="15" name="Example image 2 slide 9" descr="Example image 2 slide 9"/>
          <p:cNvPicPr>
            <a:picLocks noChangeAspect="1"/>
          </p:cNvPicPr>
          <p:nvPr/>
        </p:nvPicPr>
        <p:blipFill>
          <a:blip r:embed="rId2"/>
          <a:srcRect t="4348" b="4348"/>
          <a:stretch>
            <a:fillRect/>
          </a:stretch>
        </p:blipFill>
        <p:spPr>
          <a:xfrm>
            <a:off x="3770910" y="4045158"/>
            <a:ext cx="2228265" cy="959868"/>
          </a:xfrm>
          <a:prstGeom prst="rect">
            <a:avLst/>
          </a:prstGeom>
        </p:spPr>
      </p:pic>
      <p:pic>
        <p:nvPicPr>
          <p:cNvPr id="16" name="Example image 3 slide 9" descr="Example image 3 slide 9"/>
          <p:cNvPicPr>
            <a:picLocks noChangeAspect="1"/>
          </p:cNvPicPr>
          <p:nvPr/>
        </p:nvPicPr>
        <p:blipFill>
          <a:blip r:embed="rId3"/>
          <a:srcRect t="4348" b="4348"/>
          <a:stretch>
            <a:fillRect/>
          </a:stretch>
        </p:blipFill>
        <p:spPr>
          <a:xfrm>
            <a:off x="6136299" y="4045158"/>
            <a:ext cx="2228265" cy="959868"/>
          </a:xfrm>
          <a:prstGeom prst="rect">
            <a:avLst/>
          </a:prstGeom>
        </p:spPr>
      </p:pic>
      <p:pic>
        <p:nvPicPr>
          <p:cNvPr id="17" name="Example image 4 slide 9" descr="Example image 4 slide 9"/>
          <p:cNvPicPr>
            <a:picLocks noChangeAspect="1"/>
          </p:cNvPicPr>
          <p:nvPr/>
        </p:nvPicPr>
        <p:blipFill>
          <a:blip r:embed="rId4"/>
          <a:srcRect t="4348" b="4348"/>
          <a:stretch>
            <a:fillRect/>
          </a:stretch>
        </p:blipFill>
        <p:spPr>
          <a:xfrm>
            <a:off x="8501688" y="4045158"/>
            <a:ext cx="2228265" cy="9598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822960"/>
            <a:ext cx="3474720" cy="3474720"/>
          </a:xfrm>
          <a:prstGeom prst="ellipse">
            <a:avLst/>
          </a:prstGeom>
          <a:solidFill>
            <a:srgbClr val="74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5303520"/>
            <a:ext cx="2468880" cy="2468880"/>
          </a:xfrm>
          <a:prstGeom prst="ellipse">
            <a:avLst/>
          </a:prstGeom>
          <a:solidFill>
            <a:srgbClr val="19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0" y="5486400"/>
            <a:ext cx="3657600" cy="1828800"/>
          </a:xfrm>
          <a:prstGeom prst="ellipse">
            <a:avLst/>
          </a:prstGeom>
          <a:solidFill>
            <a:srgbClr val="2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7634605" cy="5372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rPr lang="en-US"/>
              <a:t>D</a:t>
            </a:r>
            <a:r>
              <a:t>. VISION-GUIDED ROBOTIC MANIPULATION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6012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0D7EB"/>
                </a:solidFill>
                <a:latin typeface="Aptos"/>
              </a:defRPr>
            </a:pPr>
            <a:r>
              <a:t>Intelligent Robot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DEFINITION: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8640" y="1347216"/>
            <a:ext cx="9006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5F7FF"/>
                </a:solidFill>
                <a:latin typeface="Aptos"/>
              </a:defRPr>
            </a:pPr>
            <a:r>
              <a:t>Vision-guided robotic manipulation uses cameras and computer vision to help robots identify and handle objects accurately.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128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WORKING PROCESS: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606040"/>
            <a:ext cx="10972800" cy="2331720"/>
          </a:xfrm>
          <a:prstGeom prst="rect">
            <a:avLst/>
          </a:prstGeom>
          <a:noFill/>
        </p:spPr>
        <p:txBody>
          <a:bodyPr wrap="square" lIns="45720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Image Capture – Camera captures the scene.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Object Detection – Computer vision identifies objects.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Position Estimation – Determines the object's location, size, and orientation.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Motion Planning – Robot calculates the best path to reach the object.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Grasping &amp; Manipulation – Robot selects, grasps, moves, and places the object.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93776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KEY TECHNOLOGIES: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4979670"/>
            <a:ext cx="8595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7FF"/>
                </a:solidFill>
                <a:latin typeface="Aptos"/>
              </a:defRPr>
            </a:pPr>
            <a:r>
              <a:t>Computer Vision • Object Detection • Image Processing • Depth Sensing • Robot 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806440"/>
            <a:ext cx="1406869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843016"/>
            <a:ext cx="135200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Camera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3525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57261" y="5806440"/>
            <a:ext cx="1406869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4693" y="5843016"/>
            <a:ext cx="135200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Detect Object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4987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28723" y="5806440"/>
            <a:ext cx="1406869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6155" y="5843016"/>
            <a:ext cx="135200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Identify Position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6449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00185" y="5806440"/>
            <a:ext cx="1406869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27617" y="5843016"/>
            <a:ext cx="135200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Plan Movement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7910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71646" y="5806440"/>
            <a:ext cx="1406869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9078" y="5843016"/>
            <a:ext cx="135200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Grasp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9372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43108" y="5806440"/>
            <a:ext cx="1406869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70540" y="5843016"/>
            <a:ext cx="135200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Move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40834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14570" y="5806440"/>
            <a:ext cx="1406869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2002" y="5843016"/>
            <a:ext cx="135200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Place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9224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0D7EB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34" name="Example image slide 10" descr="Example image slid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4355" y="2719626"/>
            <a:ext cx="2113995" cy="21139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-640080"/>
            <a:ext cx="2743200" cy="2743200"/>
          </a:xfrm>
          <a:prstGeom prst="ellipse">
            <a:avLst/>
          </a:prstGeom>
          <a:solidFill>
            <a:srgbClr val="2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572000"/>
            <a:ext cx="3383280" cy="3383280"/>
          </a:xfrm>
          <a:prstGeom prst="ellipse">
            <a:avLst/>
          </a:prstGeom>
          <a:solidFill>
            <a:srgbClr val="74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03520" y="5577840"/>
            <a:ext cx="3200400" cy="1554480"/>
          </a:xfrm>
          <a:prstGeom prst="ellipse">
            <a:avLst/>
          </a:prstGeom>
          <a:solidFill>
            <a:srgbClr val="19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7634605" cy="5372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rPr lang="en-US"/>
              <a:t>D</a:t>
            </a:r>
            <a:r>
              <a:t>. VISION-GUIDED ROBOTIC MANIPULATION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3795" y="189280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477770"/>
            <a:ext cx="5166360" cy="3063240"/>
          </a:xfrm>
          <a:prstGeom prst="rect">
            <a:avLst/>
          </a:prstGeom>
          <a:noFill/>
        </p:spPr>
        <p:txBody>
          <a:bodyPr wrap="square" lIns="45720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Warehouse Automation – Picking, sorting, and packing products.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Industrial Robotics – Assembly, inspection, and material handling.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Object Interaction – Picking and placing objects of different shapes.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Logistics – Automated loading and unloading.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189280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BENEFITS: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5074920" cy="3063240"/>
          </a:xfrm>
          <a:prstGeom prst="rect">
            <a:avLst/>
          </a:prstGeom>
          <a:noFill/>
        </p:spPr>
        <p:txBody>
          <a:bodyPr wrap="square" lIns="45720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High accuracy in object handling.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Faster and efficient operations.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Precise grasping and positioning.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Can handle different objects automatically.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Reduces human effort and errors.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5074920"/>
            <a:ext cx="9326880" cy="868680"/>
          </a:xfrm>
          <a:prstGeom prst="roundRect">
            <a:avLst/>
          </a:prstGeom>
          <a:solidFill>
            <a:srgbClr val="0F1830"/>
          </a:solidFill>
          <a:ln w="12700">
            <a:solidFill>
              <a:srgbClr val="2A4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5193792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F7FF"/>
                </a:solidFill>
                <a:latin typeface="Aptos"/>
              </a:defRPr>
            </a:pPr>
            <a:r>
              <a:t>EXAMPLE: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2120" y="5153279"/>
            <a:ext cx="7909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5F7FF"/>
                </a:solidFill>
                <a:latin typeface="Aptos"/>
              </a:defRPr>
            </a:pPr>
            <a:r>
              <a:t>Camera → Detect Object → Identify Position → Plan Movement → Grasp → Move → 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9224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0D7EB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14" name="Example image 1 slide 11" descr="Example image 1 slide 11"/>
          <p:cNvPicPr>
            <a:picLocks noChangeAspect="1"/>
          </p:cNvPicPr>
          <p:nvPr/>
        </p:nvPicPr>
        <p:blipFill>
          <a:blip r:embed="rId1"/>
          <a:srcRect t="312" b="312"/>
          <a:stretch>
            <a:fillRect/>
          </a:stretch>
        </p:blipFill>
        <p:spPr>
          <a:xfrm>
            <a:off x="2491086" y="1051284"/>
            <a:ext cx="1828320" cy="857025"/>
          </a:xfrm>
          <a:prstGeom prst="rect">
            <a:avLst/>
          </a:prstGeom>
        </p:spPr>
      </p:pic>
      <p:pic>
        <p:nvPicPr>
          <p:cNvPr id="15" name="Example image 2 slide 11" descr="Example image 2 slide 11"/>
          <p:cNvPicPr>
            <a:picLocks noChangeAspect="1"/>
          </p:cNvPicPr>
          <p:nvPr/>
        </p:nvPicPr>
        <p:blipFill>
          <a:blip r:embed="rId2"/>
          <a:srcRect t="312" b="312"/>
          <a:stretch>
            <a:fillRect/>
          </a:stretch>
        </p:blipFill>
        <p:spPr>
          <a:xfrm>
            <a:off x="4433676" y="1051284"/>
            <a:ext cx="1828320" cy="857025"/>
          </a:xfrm>
          <a:prstGeom prst="rect">
            <a:avLst/>
          </a:prstGeom>
        </p:spPr>
      </p:pic>
      <p:pic>
        <p:nvPicPr>
          <p:cNvPr id="16" name="Example image 3 slide 11" descr="Example image 3 slide 11"/>
          <p:cNvPicPr>
            <a:picLocks noChangeAspect="1"/>
          </p:cNvPicPr>
          <p:nvPr/>
        </p:nvPicPr>
        <p:blipFill>
          <a:blip r:embed="rId3"/>
          <a:srcRect t="312" b="312"/>
          <a:stretch>
            <a:fillRect/>
          </a:stretch>
        </p:blipFill>
        <p:spPr>
          <a:xfrm>
            <a:off x="6376266" y="1051284"/>
            <a:ext cx="1828320" cy="857025"/>
          </a:xfrm>
          <a:prstGeom prst="rect">
            <a:avLst/>
          </a:prstGeom>
        </p:spPr>
      </p:pic>
      <p:pic>
        <p:nvPicPr>
          <p:cNvPr id="17" name="Example image 4 slide 11" descr="Example image 4 slide 11"/>
          <p:cNvPicPr>
            <a:picLocks noChangeAspect="1"/>
          </p:cNvPicPr>
          <p:nvPr/>
        </p:nvPicPr>
        <p:blipFill>
          <a:blip r:embed="rId4"/>
          <a:srcRect t="312" b="312"/>
          <a:stretch>
            <a:fillRect/>
          </a:stretch>
        </p:blipFill>
        <p:spPr>
          <a:xfrm>
            <a:off x="8318856" y="1051284"/>
            <a:ext cx="1828320" cy="8570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822960"/>
            <a:ext cx="3474720" cy="3474720"/>
          </a:xfrm>
          <a:prstGeom prst="ellipse">
            <a:avLst/>
          </a:prstGeom>
          <a:solidFill>
            <a:srgbClr val="74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5303520"/>
            <a:ext cx="2468880" cy="2468880"/>
          </a:xfrm>
          <a:prstGeom prst="ellipse">
            <a:avLst/>
          </a:prstGeom>
          <a:solidFill>
            <a:srgbClr val="19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0" y="5486400"/>
            <a:ext cx="3657600" cy="1828800"/>
          </a:xfrm>
          <a:prstGeom prst="ellipse">
            <a:avLst/>
          </a:prstGeom>
          <a:solidFill>
            <a:srgbClr val="2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7254240" cy="5372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rPr lang="en-US"/>
              <a:t>E</a:t>
            </a:r>
            <a:r>
              <a:t>. IMAGE ACQUISITION &amp;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6012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0D7EB"/>
                </a:solidFill>
                <a:latin typeface="Aptos"/>
              </a:defRPr>
            </a:pPr>
            <a:r>
              <a:t>Intelligent Robot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DEFINITION: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0320" y="1326896"/>
            <a:ext cx="9006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5F7FF"/>
                </a:solidFill>
                <a:latin typeface="Aptos"/>
              </a:defRPr>
            </a:pPr>
            <a:r>
              <a:t>Image acquisition and preprocessing convert raw camera data into clean, suitable visual information for robot perception.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128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WORKING PROCESS: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72" y="2606040"/>
            <a:ext cx="10972800" cy="2331720"/>
          </a:xfrm>
          <a:prstGeom prst="rect">
            <a:avLst/>
          </a:prstGeom>
          <a:noFill/>
        </p:spPr>
        <p:txBody>
          <a:bodyPr wrap="square" lIns="45720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Image Capture – Camera sensors capture the scene continuously.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Color / Format Conversion – Convert RGB images to grayscale or suitable color spaces.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Noise Removal – Reduce sensor noise using filters such as Gaussian or median filtering.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Enhancement – Improve contrast, brightness, and image quality for later vision tasks.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Segmentation / ROI – Focus processing on important regions or objects.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93776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KEY TECHNOLOGIES: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5003800"/>
            <a:ext cx="8595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7FF"/>
                </a:solidFill>
                <a:latin typeface="Aptos"/>
              </a:defRPr>
            </a:pPr>
            <a:r>
              <a:t>Cameras • Image Processing • Filtering • Contrast Enhancement • Segmentation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Camera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5436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9172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46603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Capture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808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2544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9976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2180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5916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3348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Enhance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2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9288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9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ROI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8924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52659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80091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Vision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9224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0D7EB"/>
                </a:solidFill>
                <a:latin typeface="Aptos"/>
              </a:defRPr>
            </a:pPr>
            <a:r>
              <a:t>02</a:t>
            </a:r>
          </a:p>
        </p:txBody>
      </p:sp>
      <p:pic>
        <p:nvPicPr>
          <p:cNvPr id="31" name="Example image slide 2" descr="Example image slid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4355" y="2719626"/>
            <a:ext cx="2113995" cy="21139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-640080"/>
            <a:ext cx="2743200" cy="2743200"/>
          </a:xfrm>
          <a:prstGeom prst="ellipse">
            <a:avLst/>
          </a:prstGeom>
          <a:solidFill>
            <a:srgbClr val="2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572000"/>
            <a:ext cx="3383280" cy="3383280"/>
          </a:xfrm>
          <a:prstGeom prst="ellipse">
            <a:avLst/>
          </a:prstGeom>
          <a:solidFill>
            <a:srgbClr val="74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03520" y="5577840"/>
            <a:ext cx="3200400" cy="1554480"/>
          </a:xfrm>
          <a:prstGeom prst="ellipse">
            <a:avLst/>
          </a:prstGeom>
          <a:solidFill>
            <a:srgbClr val="19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7254240" cy="5372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rPr lang="en-US"/>
              <a:t>E</a:t>
            </a:r>
            <a:r>
              <a:t>. IMAGE ACQUISITION &amp;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8725" y="1992503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225" y="2585085"/>
            <a:ext cx="5166360" cy="2489835"/>
          </a:xfrm>
          <a:prstGeom prst="rect">
            <a:avLst/>
          </a:prstGeom>
          <a:noFill/>
        </p:spPr>
        <p:txBody>
          <a:bodyPr wrap="square" lIns="45720" tIns="18288" rIns="18288">
            <a:no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Robot cameras for indoor and outdoor scene capture.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Preprocessing before object detection and recognition.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Quality improvement for low-light or noisy images.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Region-of-interest extraction for faster processing.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1992503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BENEFITS: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85085"/>
            <a:ext cx="5074920" cy="3063240"/>
          </a:xfrm>
          <a:prstGeom prst="rect">
            <a:avLst/>
          </a:prstGeom>
          <a:noFill/>
        </p:spPr>
        <p:txBody>
          <a:bodyPr wrap="square" lIns="45720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Cleaner and more reliable visual data.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Reduces noise and irrelevant information.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Improves detection accuracy.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Makes later vision algorithms faster and more stable.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5074920"/>
            <a:ext cx="9326880" cy="868680"/>
          </a:xfrm>
          <a:prstGeom prst="roundRect">
            <a:avLst/>
          </a:prstGeom>
          <a:solidFill>
            <a:srgbClr val="0F1830"/>
          </a:solidFill>
          <a:ln w="12700">
            <a:solidFill>
              <a:srgbClr val="2A4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5193792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F7FF"/>
                </a:solidFill>
                <a:latin typeface="Aptos"/>
              </a:defRPr>
            </a:pPr>
            <a:r>
              <a:t>EXAMPLE: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9720" y="5175504"/>
            <a:ext cx="7909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5F7FF"/>
                </a:solidFill>
                <a:latin typeface="Aptos"/>
              </a:defRPr>
            </a:pPr>
            <a:r>
              <a:t>Camera → Raw Image → Gaussian Filter → Contrast Enhancement → ROI →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9224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0D7EB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14" name="Example image 1 slide 3" descr="Example image 1 slide 3"/>
          <p:cNvPicPr>
            <a:picLocks noChangeAspect="1"/>
          </p:cNvPicPr>
          <p:nvPr/>
        </p:nvPicPr>
        <p:blipFill>
          <a:blip r:embed="rId1"/>
          <a:srcRect t="4348" b="4348"/>
          <a:stretch>
            <a:fillRect/>
          </a:stretch>
        </p:blipFill>
        <p:spPr>
          <a:xfrm>
            <a:off x="1405521" y="4045158"/>
            <a:ext cx="2228265" cy="959868"/>
          </a:xfrm>
          <a:prstGeom prst="rect">
            <a:avLst/>
          </a:prstGeom>
        </p:spPr>
      </p:pic>
      <p:pic>
        <p:nvPicPr>
          <p:cNvPr id="15" name="Example image 2 slide 3" descr="Example image 2 slide 3"/>
          <p:cNvPicPr>
            <a:picLocks noChangeAspect="1"/>
          </p:cNvPicPr>
          <p:nvPr/>
        </p:nvPicPr>
        <p:blipFill>
          <a:blip r:embed="rId2"/>
          <a:srcRect t="4348" b="4348"/>
          <a:stretch>
            <a:fillRect/>
          </a:stretch>
        </p:blipFill>
        <p:spPr>
          <a:xfrm>
            <a:off x="3770910" y="4045158"/>
            <a:ext cx="2228265" cy="959868"/>
          </a:xfrm>
          <a:prstGeom prst="rect">
            <a:avLst/>
          </a:prstGeom>
        </p:spPr>
      </p:pic>
      <p:pic>
        <p:nvPicPr>
          <p:cNvPr id="16" name="Example image 3 slide 3" descr="Example image 3 slide 3"/>
          <p:cNvPicPr>
            <a:picLocks noChangeAspect="1"/>
          </p:cNvPicPr>
          <p:nvPr/>
        </p:nvPicPr>
        <p:blipFill>
          <a:blip r:embed="rId3"/>
          <a:srcRect t="4348" b="4348"/>
          <a:stretch>
            <a:fillRect/>
          </a:stretch>
        </p:blipFill>
        <p:spPr>
          <a:xfrm>
            <a:off x="6136299" y="4045158"/>
            <a:ext cx="2228265" cy="959868"/>
          </a:xfrm>
          <a:prstGeom prst="rect">
            <a:avLst/>
          </a:prstGeom>
        </p:spPr>
      </p:pic>
      <p:pic>
        <p:nvPicPr>
          <p:cNvPr id="17" name="Example image 4 slide 3" descr="Example image 4 slide 3"/>
          <p:cNvPicPr>
            <a:picLocks noChangeAspect="1"/>
          </p:cNvPicPr>
          <p:nvPr/>
        </p:nvPicPr>
        <p:blipFill>
          <a:blip r:embed="rId4"/>
          <a:srcRect t="4348" b="4348"/>
          <a:stretch>
            <a:fillRect/>
          </a:stretch>
        </p:blipFill>
        <p:spPr>
          <a:xfrm>
            <a:off x="8501688" y="4045158"/>
            <a:ext cx="2228265" cy="9598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6816</Words>
  <Application>WPS Presentation</Application>
  <PresentationFormat>On-screen Show (4:3)</PresentationFormat>
  <Paragraphs>356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Arial</vt:lpstr>
      <vt:lpstr>Aptos Display</vt:lpstr>
      <vt:lpstr>Segoe UI Variable Display</vt:lpstr>
      <vt:lpstr>Consolas</vt:lpstr>
      <vt:lpstr>Aptos</vt:lpstr>
      <vt:lpstr>Calibri</vt:lpstr>
      <vt:lpstr>Segoe UI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India</cp:lastModifiedBy>
  <cp:revision>3</cp:revision>
  <dcterms:created xsi:type="dcterms:W3CDTF">2013-01-27T09:14:00Z</dcterms:created>
  <dcterms:modified xsi:type="dcterms:W3CDTF">2026-10-07T08:40:24Z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2F43CF73584E40218899B8BD2221E979_13</vt:lpwstr>
  </property>
  <property fmtid="{D5CDD505-2E9C-101B-9397-08002B2CF9AE}" pid="3" name="KSOProductBuildVer">
    <vt:lpwstr>2057-12.2.0.23206</vt:lpwstr>
  </property>
</Properties>
</file>